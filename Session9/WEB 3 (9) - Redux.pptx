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48" r:id="rId2"/>
  </p:sldMasterIdLst>
  <p:notesMasterIdLst>
    <p:notesMasterId r:id="rId32"/>
  </p:notesMasterIdLst>
  <p:sldIdLst>
    <p:sldId id="256" r:id="rId3"/>
    <p:sldId id="286" r:id="rId4"/>
    <p:sldId id="287" r:id="rId5"/>
    <p:sldId id="257" r:id="rId6"/>
    <p:sldId id="258" r:id="rId7"/>
    <p:sldId id="260" r:id="rId8"/>
    <p:sldId id="261" r:id="rId9"/>
    <p:sldId id="262" r:id="rId10"/>
    <p:sldId id="279" r:id="rId11"/>
    <p:sldId id="280" r:id="rId12"/>
    <p:sldId id="266" r:id="rId13"/>
    <p:sldId id="267" r:id="rId14"/>
    <p:sldId id="281" r:id="rId15"/>
    <p:sldId id="268" r:id="rId16"/>
    <p:sldId id="269" r:id="rId17"/>
    <p:sldId id="282" r:id="rId18"/>
    <p:sldId id="283" r:id="rId19"/>
    <p:sldId id="270" r:id="rId20"/>
    <p:sldId id="271" r:id="rId21"/>
    <p:sldId id="284" r:id="rId22"/>
    <p:sldId id="276" r:id="rId23"/>
    <p:sldId id="277" r:id="rId24"/>
    <p:sldId id="288" r:id="rId25"/>
    <p:sldId id="264" r:id="rId26"/>
    <p:sldId id="263" r:id="rId27"/>
    <p:sldId id="272" r:id="rId28"/>
    <p:sldId id="273" r:id="rId29"/>
    <p:sldId id="278" r:id="rId30"/>
    <p:sldId id="265" r:id="rId3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-24"/>
    </p:cViewPr>
  </p:notesText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0BE78-136C-4EB0-82F8-6F89320A54EA}" type="datetimeFigureOut">
              <a:rPr lang="en-DK" smtClean="0"/>
              <a:t>10/30/2025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A648-1CE8-47C1-8D94-DC119F73BBF3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0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ReduceStore</a:t>
            </a:r>
            <a:r>
              <a:rPr lang="en-GB" dirty="0"/>
              <a:t> is the most functional in the original Flux framework. It defines a pure reduce method that returns a new state given the old stat and the action.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5A648-1CE8-47C1-8D94-DC119F73BBF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00502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ThunkMiddleware</a:t>
            </a:r>
            <a:r>
              <a:rPr lang="en-GB" dirty="0"/>
              <a:t> defines a dispatcher that works like this</a:t>
            </a:r>
          </a:p>
          <a:p>
            <a:pPr marL="228600" indent="-228600">
              <a:buAutoNum type="arabicPeriod"/>
            </a:pPr>
            <a:r>
              <a:rPr lang="en-GB" dirty="0"/>
              <a:t>If it receives an action, it just delegates it to the original dispatcher</a:t>
            </a:r>
          </a:p>
          <a:p>
            <a:pPr marL="228600" indent="-228600">
              <a:buAutoNum type="arabicPeriod"/>
            </a:pPr>
            <a:r>
              <a:rPr lang="en-GB" dirty="0"/>
              <a:t>If it receives a </a:t>
            </a:r>
            <a:r>
              <a:rPr lang="en-GB" dirty="0" err="1"/>
              <a:t>thunk</a:t>
            </a:r>
            <a:r>
              <a:rPr lang="en-GB" dirty="0"/>
              <a:t>, it calls the </a:t>
            </a:r>
            <a:r>
              <a:rPr lang="en-GB" dirty="0" err="1"/>
              <a:t>thunk</a:t>
            </a:r>
            <a:r>
              <a:rPr lang="en-GB" dirty="0"/>
              <a:t> with itself as parameter</a:t>
            </a:r>
          </a:p>
          <a:p>
            <a:pPr marL="685800" lvl="1" indent="-228600">
              <a:buFont typeface="+mj-lt"/>
              <a:buAutoNum type="alphaLcParenR"/>
            </a:pPr>
            <a:r>
              <a:rPr lang="da-DK" dirty="0"/>
              <a:t>The </a:t>
            </a:r>
            <a:r>
              <a:rPr lang="da-DK" dirty="0" err="1"/>
              <a:t>thunk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typically</a:t>
            </a:r>
            <a:r>
              <a:rPr lang="da-DK" dirty="0"/>
              <a:t> </a:t>
            </a:r>
            <a:r>
              <a:rPr lang="da-DK" dirty="0" err="1"/>
              <a:t>call</a:t>
            </a:r>
            <a:r>
              <a:rPr lang="da-DK" dirty="0"/>
              <a:t> a server </a:t>
            </a:r>
            <a:r>
              <a:rPr lang="da-DK" dirty="0" err="1"/>
              <a:t>asynchronously</a:t>
            </a:r>
            <a:endParaRPr lang="da-DK" dirty="0"/>
          </a:p>
          <a:p>
            <a:pPr marL="685800" lvl="1" indent="-228600">
              <a:buFont typeface="+mj-lt"/>
              <a:buAutoNum type="alphaLcParenR"/>
            </a:pPr>
            <a:r>
              <a:rPr lang="da-DK" dirty="0" err="1"/>
              <a:t>When</a:t>
            </a:r>
            <a:r>
              <a:rPr lang="da-DK" dirty="0"/>
              <a:t> the </a:t>
            </a:r>
            <a:r>
              <a:rPr lang="da-DK" dirty="0" err="1"/>
              <a:t>reply</a:t>
            </a:r>
            <a:r>
              <a:rPr lang="da-DK" dirty="0"/>
              <a:t> </a:t>
            </a:r>
            <a:r>
              <a:rPr lang="da-DK" dirty="0" err="1"/>
              <a:t>comes</a:t>
            </a:r>
            <a:r>
              <a:rPr lang="da-DK" dirty="0"/>
              <a:t> from the server, it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create</a:t>
            </a:r>
            <a:r>
              <a:rPr lang="da-DK" dirty="0"/>
              <a:t> an action or a </a:t>
            </a:r>
            <a:r>
              <a:rPr lang="da-DK" dirty="0" err="1"/>
              <a:t>thunk</a:t>
            </a:r>
            <a:endParaRPr lang="da-DK" dirty="0"/>
          </a:p>
          <a:p>
            <a:pPr marL="685800" lvl="1" indent="-228600">
              <a:buFont typeface="+mj-lt"/>
              <a:buAutoNum type="alphaLcParenR"/>
            </a:pPr>
            <a:r>
              <a:rPr lang="da-DK" dirty="0" err="1"/>
              <a:t>Then</a:t>
            </a:r>
            <a:r>
              <a:rPr lang="da-DK" dirty="0"/>
              <a:t> it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call</a:t>
            </a:r>
            <a:r>
              <a:rPr lang="da-DK" dirty="0"/>
              <a:t> back to the </a:t>
            </a:r>
            <a:r>
              <a:rPr lang="da-DK" dirty="0" err="1"/>
              <a:t>dispatcher</a:t>
            </a:r>
            <a:r>
              <a:rPr lang="da-DK" dirty="0"/>
              <a:t> and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start from the </a:t>
            </a:r>
            <a:r>
              <a:rPr lang="da-DK" dirty="0" err="1"/>
              <a:t>beginning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5A648-1CE8-47C1-8D94-DC119F73BBF3}" type="slidenum">
              <a:rPr lang="en-DK" smtClean="0"/>
              <a:t>25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4035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BF21-D100-58BA-2A9A-AA47992FE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3EB9C-721A-9FB8-5398-4E371F2D9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6E3C-6FF1-3F8B-2D7E-FFFA717F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D84B8-80EA-48CF-848E-40B6687AF21B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01E2-FD53-F774-6341-8F8C917D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175DA-A416-D7BB-6DC8-FE452C28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993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A2DD-7D3A-3B8C-D934-FBC7818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A4B64-6FC0-6FF4-F571-2FEAD9E9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E055-36E6-DDAB-47F8-D7C3974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BC8F-37E8-4041-B4F9-CA6CD13296C7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2B1E-A6EF-6D79-CA0B-254AA7BC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2D1D-04C3-D5A1-FE28-609F2CA3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872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A2DD-7D3A-3B8C-D934-FBC78186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E055-36E6-DDAB-47F8-D7C3974B9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2B1E-A6EF-6D79-CA0B-254AA7BC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32D1D-04C3-D5A1-FE28-609F2CA3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D8C12E-0F49-1D34-0629-634F2DC4E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715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-by-sid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AFC1-6D2F-AAE8-D948-6612CA8F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23F6-6024-B948-1F10-2D8160FD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F55E6-8500-403E-B498-BA75C3D1E90F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E20-1361-95E8-EC37-2CB36475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27B2-DE24-3568-5ABF-40683F3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A377D9-3740-2C83-B406-E753A84E5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EFDB3C-90B0-2C0C-2115-D4B04E0D20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544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017C-A21A-BEA1-1594-C9950B1C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21E1-3DBF-75ED-09C5-F5D57312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45445-75A3-F04F-FCB1-4507EB030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83618-08DA-003D-87E9-F18FD2D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946FF-1C1C-4D2F-9FC8-759CC1A95520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9EBC-C621-BA51-A1CB-C6A9EF10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B41B6-1981-B89F-8CFE-DCB48D14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512E6A2-2293-A928-AB39-32D7D9B74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8EAD0E3-90AA-B15A-88B3-788DBF88D2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 panose="020B06090202040302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804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A6DB-E428-3E3C-5810-14D00E9D1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B175-2DA6-A4C3-F3B8-4DCF20A18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564D-DD79-04C4-8B8C-709511FD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AFC6A-8A49-48A0-983F-0BB5CDA7D786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06FE-7737-9395-BA25-DAB5C598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CFE83-558E-76DE-1FF2-4D4DAECE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315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AFC1-6D2F-AAE8-D948-6612CA8F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5F89-5DB5-8D97-C1ED-626686EA8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02F52-C039-B7D0-A6D7-9739AE8CE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623F6-6024-B948-1F10-2D8160FD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41AE-08F6-4F24-B9DF-F7C3F90340EF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BAE20-1361-95E8-EC37-2CB36475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27B2-DE24-3568-5ABF-40683F3E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70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017C-A21A-BEA1-1594-C9950B1C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821E1-3DBF-75ED-09C5-F5D573127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3E915-DEB9-6FC4-AD93-375F5E2C1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45445-75A3-F04F-FCB1-4507EB030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EEDB7-2DD9-A236-98FC-512EBBE44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83618-08DA-003D-87E9-F18FD2DE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3359-21BD-406A-9F17-AD4F465337A4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119EBC-C621-BA51-A1CB-C6A9EF10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CB41B6-1981-B89F-8CFE-DCB48D14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738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418A-057B-4C2E-93FA-17F897B80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0CD17-38F4-7700-1B9A-633B69631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9DB4-CC0F-4BD1-A43D-23634BD73F11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FE04E-4D0B-72FA-C518-84AA1A4B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E4D84-6DDF-2077-A41A-4F01E316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2170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81138-4B66-1778-1AA7-726624EE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9F3C8-B45E-4AD4-BA3F-0316C4FAA614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35E46-99EE-E6D6-8659-EFD15062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95D54-747E-93C2-C364-E01401D7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0779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464F1-2A11-CFFA-28AD-04F1DFDA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DE1A9-D7D8-2E14-5C65-010F7B6E3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9F927-A4B5-C63C-D954-DE99094C3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2D662-5562-7F73-75D8-58C4256B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AA06D-259A-4852-B670-CB8EA48CF637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2CD43-D4BB-EB77-B425-6770D342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A971C-C823-2BEF-1354-11684A3B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97059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D457-6F22-45D1-EE6D-8EEF07BA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BBAEFD-A631-F37B-806A-BB637DBA37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3D8DA-DE0F-03CA-68E0-669B0075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DCC81-4FAC-A639-541C-B75B43AA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90C8A-E22B-4B4C-877A-36E23BD7CCA2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D2025-6D17-CFF4-C718-8CF603323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7822F-E4DE-EF3D-CA30-F5CCDE7C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42213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BB00-C781-D8D8-3810-CCF06B87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17AEE-F21D-FB0D-C686-A3F0FD5B2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19BF-8410-323B-094A-5A0BACBD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84E-FD4F-44B7-BCAD-E73F2CE23F57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CB115-C233-AABF-4ED7-913BC011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C284D-E360-98EB-28A2-3FE7EF7B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70315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84C95-30FE-3D62-185E-5AA38C690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8C976-24F7-D2FE-BECA-961D27396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D152-5620-08B7-B73D-EC5548C1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E58BD-00FB-4F9C-95E0-2BEB4A42503C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58138-0F5E-CEB7-35CC-69A07261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8787-DC29-887B-E5FE-4C320E38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1909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dholdsside II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VIA Type Office Light" panose="02000503000000020004" pitchFamily="2" charset="0"/>
              </a:defRPr>
            </a:lvl1pPr>
          </a:lstStyle>
          <a:p>
            <a:r>
              <a:rPr lang="da-DK" dirty="0"/>
              <a:t>Overskrift i maksimalt to linjer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5B2CB-BADD-428B-8B1B-F22E538E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ED4CA-34C7-402F-A9F4-5E01A6AFEA6E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41FE02-77C2-2D91-B427-EC369EE2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6195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sside II -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VIA Type Office Light" panose="02000503000000020004" pitchFamily="2" charset="0"/>
              </a:defRPr>
            </a:lvl1pPr>
          </a:lstStyle>
          <a:p>
            <a:r>
              <a:rPr lang="da-DK" dirty="0"/>
              <a:t>Overskrift i maksimalt to linjer</a:t>
            </a:r>
          </a:p>
        </p:txBody>
      </p:sp>
      <p:sp>
        <p:nvSpPr>
          <p:cNvPr id="8" name="Pladsholder til tekst 7"/>
          <p:cNvSpPr>
            <a:spLocks noGrp="1"/>
          </p:cNvSpPr>
          <p:nvPr>
            <p:ph type="body" sz="quarter" idx="13"/>
          </p:nvPr>
        </p:nvSpPr>
        <p:spPr>
          <a:xfrm>
            <a:off x="768351" y="1916114"/>
            <a:ext cx="10655299" cy="3925887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spcBef>
                <a:spcPts val="600"/>
              </a:spcBef>
              <a:defRPr sz="2500" spc="-90" baseline="0"/>
            </a:lvl1pPr>
            <a:lvl2pPr marL="903600">
              <a:lnSpc>
                <a:spcPct val="80000"/>
              </a:lnSpc>
              <a:defRPr sz="2500" spc="-90" baseline="0"/>
            </a:lvl2pPr>
            <a:lvl3pPr marL="1364400">
              <a:lnSpc>
                <a:spcPct val="80000"/>
              </a:lnSpc>
              <a:defRPr sz="2500" spc="-90"/>
            </a:lvl3pPr>
            <a:lvl4pPr marL="1821600">
              <a:lnSpc>
                <a:spcPct val="80000"/>
              </a:lnSpc>
              <a:defRPr sz="2500" spc="-90"/>
            </a:lvl4pPr>
            <a:lvl5pPr marL="1821600">
              <a:lnSpc>
                <a:spcPct val="80000"/>
              </a:lnSpc>
              <a:defRPr sz="2500" spc="-9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F98FC-CF8C-C879-4128-81F3E8C973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6CDA7B-437C-476B-ACCB-3554C74A198E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43F43F-113E-428B-F46A-F5E142F770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6619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51E99-CAEA-8CBF-A5FC-012A6EE9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C0E41-C896-0F99-45A3-B81FAFD64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9CAF-3489-0443-23F3-4CD8F218B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D86D8-61D2-4C90-A21D-D72704CD5B97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30A08-A693-B5A1-176D-719DC267F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F30A6-9A94-E5BE-138A-62628E3D9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D356-B6C6-4BB6-8D42-BECF83CAE2C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2609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76320" y="5920436"/>
            <a:ext cx="2448272" cy="374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0" tIns="90000" rIns="0" bIns="0" rtlCol="0" anchor="t" anchorCtr="0"/>
          <a:lstStyle>
            <a:lvl1pPr algn="l">
              <a:lnSpc>
                <a:spcPct val="125000"/>
              </a:lnSpc>
              <a:defRPr sz="800">
                <a:solidFill>
                  <a:schemeClr val="tx1"/>
                </a:solidFill>
                <a:latin typeface="VIA Type Office Light" panose="02000503000000020004" pitchFamily="2" charset="0"/>
              </a:defRPr>
            </a:lvl1pPr>
          </a:lstStyle>
          <a:p>
            <a:fld id="{43CB2BAC-CB33-4684-A586-7657B121BCCD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42" y="584200"/>
            <a:ext cx="10726309" cy="1194905"/>
          </a:xfrm>
          <a:prstGeom prst="rect">
            <a:avLst/>
          </a:prstGeom>
        </p:spPr>
        <p:txBody>
          <a:bodyPr vert="horz" lIns="0" tIns="10800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408" y="1914397"/>
            <a:ext cx="10657184" cy="39244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03085" y="5920437"/>
            <a:ext cx="2448983" cy="37400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0" tIns="90000" rIns="0" bIns="0" rtlCol="0" anchor="t" anchorCtr="0"/>
          <a:lstStyle>
            <a:lvl1pPr algn="l">
              <a:lnSpc>
                <a:spcPct val="125000"/>
              </a:lnSpc>
              <a:defRPr sz="800">
                <a:solidFill>
                  <a:schemeClr val="tx1"/>
                </a:solidFill>
                <a:latin typeface="VIA Type Office Light" panose="02000503000000020004" pitchFamily="2" charset="0"/>
              </a:defRPr>
            </a:lvl1pPr>
          </a:lstStyle>
          <a:p>
            <a:r>
              <a:rPr lang="da-DK" dirty="0"/>
              <a:t>Ole I Hougaard, Software Engineering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AC8D4F2-15E0-F6F6-EF48-2D34373FD874}"/>
              </a:ext>
            </a:extLst>
          </p:cNvPr>
          <p:cNvSpPr txBox="1">
            <a:spLocks/>
          </p:cNvSpPr>
          <p:nvPr userDrawn="1"/>
        </p:nvSpPr>
        <p:spPr>
          <a:xfrm>
            <a:off x="761245" y="5925724"/>
            <a:ext cx="2448000" cy="374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tIns="0">
            <a:normAutofit/>
          </a:bodyPr>
          <a:lstStyle>
            <a:lvl1pPr marL="450000" indent="-4500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VIA Type Office" panose="02000503000000020004" pitchFamily="2" charset="0"/>
              <a:buChar char="–"/>
              <a:defRPr sz="100" kern="1200" spc="-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8000" indent="-450000" algn="l" defTabSz="914400" rtl="0" eaLnBrk="1" latinLnBrk="0" hangingPunct="1">
              <a:spcBef>
                <a:spcPts val="600"/>
              </a:spcBef>
              <a:buFont typeface="VIA Type Office" panose="02000503000000020004" pitchFamily="2" charset="0"/>
              <a:buChar char="–"/>
              <a:defRPr sz="1800" kern="1200" spc="-9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8800" indent="-450000" algn="l" defTabSz="914400" rtl="0" eaLnBrk="1" latinLnBrk="0" hangingPunct="1">
              <a:lnSpc>
                <a:spcPct val="89000"/>
              </a:lnSpc>
              <a:spcBef>
                <a:spcPts val="600"/>
              </a:spcBef>
              <a:buFont typeface="VIA Type Office" panose="02000503000000020004" pitchFamily="2" charset="0"/>
              <a:buChar char="–"/>
              <a:defRPr sz="140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36000" indent="-450000" algn="l" defTabSz="914400" rtl="0" eaLnBrk="1" latinLnBrk="0" hangingPunct="1">
              <a:lnSpc>
                <a:spcPct val="97000"/>
              </a:lnSpc>
              <a:spcBef>
                <a:spcPts val="600"/>
              </a:spcBef>
              <a:buFont typeface="VIA Type Office" panose="02000503000000020004" pitchFamily="2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000" indent="-450000" algn="l" defTabSz="914400" rtl="0" eaLnBrk="1" latinLnBrk="0" hangingPunct="1">
              <a:lnSpc>
                <a:spcPct val="97000"/>
              </a:lnSpc>
              <a:spcBef>
                <a:spcPts val="600"/>
              </a:spcBef>
              <a:buFont typeface="VIA Type Office" panose="02000503000000020004" pitchFamily="2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" noProof="1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822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4" r:id="rId2"/>
  </p:sldLayoutIdLst>
  <p:hf hdr="0"/>
  <p:txStyles>
    <p:titleStyle>
      <a:lvl1pPr algn="l" defTabSz="914400" rtl="0" eaLnBrk="1" latinLnBrk="0" hangingPunct="1">
        <a:lnSpc>
          <a:spcPct val="73000"/>
        </a:lnSpc>
        <a:spcBef>
          <a:spcPct val="0"/>
        </a:spcBef>
        <a:buNone/>
        <a:defRPr sz="4800" kern="1200" spc="-250" baseline="0">
          <a:solidFill>
            <a:schemeClr val="tx1"/>
          </a:solidFill>
          <a:latin typeface="VIA Type Office Light" panose="02000503000000020004" pitchFamily="2" charset="0"/>
          <a:ea typeface="+mj-ea"/>
          <a:cs typeface="+mj-cs"/>
        </a:defRPr>
      </a:lvl1pPr>
    </p:titleStyle>
    <p:bodyStyle>
      <a:lvl1pPr marL="450000" indent="-450000" algn="l" defTabSz="914400" rtl="0" eaLnBrk="1" latinLnBrk="0" hangingPunct="1">
        <a:lnSpc>
          <a:spcPct val="80000"/>
        </a:lnSpc>
        <a:spcBef>
          <a:spcPct val="20000"/>
        </a:spcBef>
        <a:buFont typeface="VIA Type Office" panose="02000503000000020004" pitchFamily="2" charset="0"/>
        <a:buChar char="–"/>
        <a:defRPr sz="2500" kern="1200" spc="-100" baseline="0">
          <a:solidFill>
            <a:schemeClr val="tx1"/>
          </a:solidFill>
          <a:latin typeface="+mn-lt"/>
          <a:ea typeface="+mn-ea"/>
          <a:cs typeface="+mn-cs"/>
        </a:defRPr>
      </a:lvl1pPr>
      <a:lvl2pPr marL="918000" indent="-450000" algn="l" defTabSz="914400" rtl="0" eaLnBrk="1" latinLnBrk="0" hangingPunct="1">
        <a:spcBef>
          <a:spcPts val="600"/>
        </a:spcBef>
        <a:buFont typeface="VIA Type Office" panose="02000503000000020004" pitchFamily="2" charset="0"/>
        <a:buChar char="–"/>
        <a:defRPr sz="1800" kern="1200" spc="-90" baseline="0">
          <a:solidFill>
            <a:schemeClr val="tx1"/>
          </a:solidFill>
          <a:latin typeface="+mn-lt"/>
          <a:ea typeface="+mn-ea"/>
          <a:cs typeface="+mn-cs"/>
        </a:defRPr>
      </a:lvl2pPr>
      <a:lvl3pPr marL="1378800" indent="-450000" algn="l" defTabSz="914400" rtl="0" eaLnBrk="1" latinLnBrk="0" hangingPunct="1">
        <a:lnSpc>
          <a:spcPct val="89000"/>
        </a:lnSpc>
        <a:spcBef>
          <a:spcPts val="600"/>
        </a:spcBef>
        <a:buFont typeface="VIA Type Office" panose="02000503000000020004" pitchFamily="2" charset="0"/>
        <a:buChar char="–"/>
        <a:defRPr sz="1400" kern="1200" spc="-50" baseline="0">
          <a:solidFill>
            <a:schemeClr val="tx1"/>
          </a:solidFill>
          <a:latin typeface="+mn-lt"/>
          <a:ea typeface="+mn-ea"/>
          <a:cs typeface="+mn-cs"/>
        </a:defRPr>
      </a:lvl3pPr>
      <a:lvl4pPr marL="1836000" indent="-450000" algn="l" defTabSz="914400" rtl="0" eaLnBrk="1" latinLnBrk="0" hangingPunct="1">
        <a:lnSpc>
          <a:spcPct val="97000"/>
        </a:lnSpc>
        <a:spcBef>
          <a:spcPts val="600"/>
        </a:spcBef>
        <a:buFont typeface="VIA Type Office" panose="02000503000000020004" pitchFamily="2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-450000" algn="l" defTabSz="914400" rtl="0" eaLnBrk="1" latinLnBrk="0" hangingPunct="1">
        <a:lnSpc>
          <a:spcPct val="97000"/>
        </a:lnSpc>
        <a:spcBef>
          <a:spcPts val="600"/>
        </a:spcBef>
        <a:buFont typeface="VIA Type Office" panose="02000503000000020004" pitchFamily="2" charset="0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3090-ABB0-EA63-E6BD-B64D8A605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dirty="0"/>
              <a:t>WEB3, Session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3E6E0-17F9-91E7-C03C-5B4F062BC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K" dirty="0"/>
              <a:t>Redux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7FAC4-A02A-DE70-BAE7-5DB480DC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2BE1-2EB7-4AA6-A9E6-FDCAC4AE5AE8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4DB3A-2F82-959F-C553-4CE60E1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96329-581A-DA6A-71CD-5FDF0FF3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7494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96B2-1B85-86E3-B792-7F6FEA92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Management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CFA33-23AB-C176-CF20-3F2911881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Facebook's original motivation for React</a:t>
            </a:r>
          </a:p>
          <a:p>
            <a:r>
              <a:rPr lang="en-GB" dirty="0"/>
              <a:t>From many small interconnected state changes (MVC/MVVM)</a:t>
            </a:r>
          </a:p>
          <a:p>
            <a:r>
              <a:rPr lang="en-GB" dirty="0"/>
              <a:t>To one big independent state change (1-way data flow/flux pattern)</a:t>
            </a:r>
          </a:p>
          <a:p>
            <a:r>
              <a:rPr lang="en-GB" dirty="0"/>
              <a:t>React = Pure functions + non-functional hooks</a:t>
            </a:r>
          </a:p>
          <a:p>
            <a:r>
              <a:rPr lang="en-GB" dirty="0"/>
              <a:t>That means: State changes are </a:t>
            </a:r>
            <a:r>
              <a:rPr lang="en-GB" i="1" dirty="0"/>
              <a:t>functionally computed</a:t>
            </a:r>
            <a:r>
              <a:rPr lang="en-GB" dirty="0"/>
              <a:t>,</a:t>
            </a:r>
            <a:r>
              <a:rPr lang="en-GB" b="1" i="1" dirty="0"/>
              <a:t> </a:t>
            </a:r>
            <a:r>
              <a:rPr lang="en-GB" dirty="0"/>
              <a:t>but </a:t>
            </a:r>
            <a:r>
              <a:rPr lang="en-GB" i="1" dirty="0"/>
              <a:t>non-functionally applied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34496-FB00-CD56-D39E-32F3926F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BC8F-37E8-4041-B4F9-CA6CD13296C7}" type="datetime8">
              <a:rPr lang="en-DK" smtClean="0"/>
              <a:t>10/30/2025 14:53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E162D-3DD9-FEF0-F13B-48EE69DA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91E72-1E21-97DB-9E60-32727475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3079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9446-32CB-0DA2-1784-C2B179B7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Local </a:t>
            </a:r>
            <a:r>
              <a:rPr lang="da-DK" dirty="0" err="1"/>
              <a:t>vs</a:t>
            </a:r>
            <a:r>
              <a:rPr lang="da-DK" dirty="0"/>
              <a:t> global </a:t>
            </a:r>
            <a:r>
              <a:rPr lang="da-DK" dirty="0" err="1"/>
              <a:t>state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9E03C-EFFE-CA3D-EF45-83F799688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Local State</a:t>
            </a:r>
          </a:p>
          <a:p>
            <a:pPr lvl="1"/>
            <a:r>
              <a:rPr lang="da-DK" dirty="0" err="1"/>
              <a:t>Defined</a:t>
            </a:r>
            <a:r>
              <a:rPr lang="da-DK" dirty="0"/>
              <a:t> in the components (</a:t>
            </a:r>
            <a:r>
              <a:rPr lang="da-DK" dirty="0" err="1"/>
              <a:t>useState</a:t>
            </a:r>
            <a:r>
              <a:rPr lang="da-DK" dirty="0"/>
              <a:t> hooks)</a:t>
            </a:r>
          </a:p>
          <a:p>
            <a:pPr lvl="1"/>
            <a:r>
              <a:rPr lang="da-DK" dirty="0"/>
              <a:t>State is transferred to </a:t>
            </a:r>
            <a:r>
              <a:rPr lang="da-DK" dirty="0" err="1"/>
              <a:t>child</a:t>
            </a:r>
            <a:r>
              <a:rPr lang="da-DK" dirty="0"/>
              <a:t> components </a:t>
            </a:r>
            <a:r>
              <a:rPr lang="da-DK" dirty="0" err="1"/>
              <a:t>using</a:t>
            </a:r>
            <a:r>
              <a:rPr lang="da-DK" dirty="0"/>
              <a:t> properties</a:t>
            </a:r>
          </a:p>
          <a:p>
            <a:pPr lvl="1"/>
            <a:r>
              <a:rPr lang="da-DK" dirty="0"/>
              <a:t>State is transferred to </a:t>
            </a:r>
            <a:r>
              <a:rPr lang="da-DK" dirty="0" err="1"/>
              <a:t>parent</a:t>
            </a:r>
            <a:r>
              <a:rPr lang="da-DK" dirty="0"/>
              <a:t> components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listeners</a:t>
            </a:r>
            <a:endParaRPr lang="da-DK" dirty="0"/>
          </a:p>
          <a:p>
            <a:r>
              <a:rPr lang="da-DK" dirty="0"/>
              <a:t>Global State</a:t>
            </a:r>
          </a:p>
          <a:p>
            <a:pPr lvl="1"/>
            <a:r>
              <a:rPr lang="da-DK" dirty="0"/>
              <a:t>The </a:t>
            </a:r>
            <a:r>
              <a:rPr lang="da-DK" dirty="0" err="1"/>
              <a:t>state</a:t>
            </a:r>
            <a:r>
              <a:rPr lang="da-DK" dirty="0"/>
              <a:t> is </a:t>
            </a:r>
            <a:r>
              <a:rPr lang="da-DK" dirty="0" err="1"/>
              <a:t>defined</a:t>
            </a:r>
            <a:r>
              <a:rPr lang="da-DK" dirty="0"/>
              <a:t> in a single </a:t>
            </a:r>
            <a:r>
              <a:rPr lang="da-DK" dirty="0" err="1"/>
              <a:t>place</a:t>
            </a:r>
            <a:r>
              <a:rPr lang="da-DK" dirty="0"/>
              <a:t> (Single Source of </a:t>
            </a:r>
            <a:r>
              <a:rPr lang="da-DK" dirty="0" err="1"/>
              <a:t>Truth</a:t>
            </a:r>
            <a:r>
              <a:rPr lang="da-DK" dirty="0"/>
              <a:t>)</a:t>
            </a:r>
          </a:p>
          <a:p>
            <a:pPr lvl="1"/>
            <a:r>
              <a:rPr lang="da-DK" dirty="0"/>
              <a:t>This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a global variable (or singleton pattern,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prefer</a:t>
            </a:r>
            <a:r>
              <a:rPr lang="da-DK" dirty="0"/>
              <a:t>)</a:t>
            </a:r>
          </a:p>
          <a:p>
            <a:pPr lvl="1"/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4465F-32E4-B2CD-F38C-352872E2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ED0A-891D-49B2-9179-1C1C67966BCB}" type="datetime1">
              <a:rPr lang="en-GB" smtClean="0"/>
              <a:t>30/10/2025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4895F-425B-C2D5-1D63-289C91BD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olehougaard@gmail.com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CD8D1-1C7A-A9A9-8D25-9CB15EAA6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01971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9AD8-969D-F29D-EC0B-5C5FF97D7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original Flux pattern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5ADE71-34FA-6B23-0321-8039A3AE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F2C4-5C53-4230-82D6-3257047EA78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496AC-154D-2AC3-953D-743DBEF5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6BE4E-83A1-53D4-D48B-54391027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4</a:t>
            </a:fld>
            <a:endParaRPr lang="en-DK"/>
          </a:p>
        </p:txBody>
      </p:sp>
      <p:pic>
        <p:nvPicPr>
          <p:cNvPr id="7" name="Picture 6" descr="A diagram of a business process&#10;&#10;Description automatically generated">
            <a:extLst>
              <a:ext uri="{FF2B5EF4-FFF2-40B4-BE49-F238E27FC236}">
                <a16:creationId xmlns:a16="http://schemas.microsoft.com/office/drawing/2014/main" id="{539FA52F-709E-8DA5-3E18-CC7B18364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65" y="1910314"/>
            <a:ext cx="9348630" cy="272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6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31ED5-7235-6D9E-4EEE-F5E37D54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</a:t>
            </a:r>
            <a:r>
              <a:rPr lang="en-DK" dirty="0" err="1"/>
              <a:t>ReduceStore</a:t>
            </a:r>
            <a:endParaRPr lang="en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69FB8-FE3B-3BEA-61D4-6A7BC805E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3F606-A36C-4B73-9CE2-E85132171448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C547D-4341-1828-4547-8EBE08A2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338FE-15A9-DA7F-A53B-677EAE5D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690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1F02-23B2-6464-F7D4-F55ED7E7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What is a reducer?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0F2D-1938-4FAB-F598-F650BF5D5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K" dirty="0"/>
              <a:t>A</a:t>
            </a:r>
            <a:r>
              <a:rPr lang="en-US" dirty="0"/>
              <a:t> pure function that creates the new state based on the old state and the action.</a:t>
            </a:r>
          </a:p>
          <a:p>
            <a:r>
              <a:rPr lang="en-US" dirty="0"/>
              <a:t>Always creates a new copy of the state.</a:t>
            </a:r>
          </a:p>
          <a:p>
            <a:pPr lvl="1"/>
            <a:r>
              <a:rPr lang="en-US" dirty="0"/>
              <a:t>Optimize this in various ways (</a:t>
            </a:r>
            <a:r>
              <a:rPr lang="en-DK" dirty="0"/>
              <a:t>e.g. immutable.js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(Free </a:t>
            </a:r>
            <a:r>
              <a:rPr lang="en-US" dirty="0" err="1"/>
              <a:t>undos</a:t>
            </a:r>
            <a:r>
              <a:rPr lang="en-US" dirty="0"/>
              <a:t>)</a:t>
            </a:r>
          </a:p>
          <a:p>
            <a:r>
              <a:rPr lang="en-US" dirty="0"/>
              <a:t>state = reducer(state, action)</a:t>
            </a:r>
          </a:p>
          <a:p>
            <a:r>
              <a:rPr lang="en-US" dirty="0"/>
              <a:t>Why "reducer"?</a:t>
            </a:r>
          </a:p>
          <a:p>
            <a:pPr lvl="1"/>
            <a:r>
              <a:rPr lang="en-US" dirty="0"/>
              <a:t>If you save all actions in an array (actions: Action[])</a:t>
            </a:r>
          </a:p>
          <a:p>
            <a:pPr lvl="1"/>
            <a:r>
              <a:rPr lang="en-US" dirty="0"/>
              <a:t>Current state is: </a:t>
            </a:r>
            <a:r>
              <a:rPr lang="en-US" dirty="0" err="1"/>
              <a:t>actions.reduce</a:t>
            </a:r>
            <a:r>
              <a:rPr lang="en-US" dirty="0"/>
              <a:t>(reducer, </a:t>
            </a:r>
            <a:r>
              <a:rPr lang="en-US" dirty="0" err="1"/>
              <a:t>init_state</a:t>
            </a:r>
            <a:r>
              <a:rPr lang="en-US" dirty="0"/>
              <a:t>)</a:t>
            </a:r>
            <a:endParaRPr lang="en-DK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36111-69E2-004B-19F2-F0698391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98658-4040-4E17-84BC-740B96A6BC03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A783B-5515-3958-E96D-30BD7EF5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CE67-7E59-0EA9-A04B-4EAFE149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0446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15BEAF-75F3-8277-B96F-69CAAD8A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of Flux and state management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24C98-38F8-FDEB-2344-F10A16CEF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reducer function is unwieldy (and scales poorly)</a:t>
            </a:r>
          </a:p>
          <a:p>
            <a:r>
              <a:rPr lang="en-GB" dirty="0"/>
              <a:t>Some parts of the state are not relevant for the entire view</a:t>
            </a:r>
          </a:p>
          <a:p>
            <a:r>
              <a:rPr lang="en-GB" dirty="0"/>
              <a:t>There is no standard way of introducing side-effects (like server calls)</a:t>
            </a:r>
          </a:p>
          <a:p>
            <a:r>
              <a:rPr lang="en-GB" dirty="0"/>
              <a:t>Actions are poorly defined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C2296-5B86-F8EC-B35D-CA9939CC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998DE-AB73-4F64-B5C0-73710819F456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E485E-5280-3D2A-D33A-ED43545B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352C97-35B0-CBD9-C77C-E1E712A8B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438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B963-C2F3-5054-DADF-BC23D9FD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Redux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EE1B8-BBCD-ECF1-D95E-B8911A919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way of creating a store with a reducer</a:t>
            </a:r>
          </a:p>
          <a:p>
            <a:pPr lvl="1"/>
            <a:r>
              <a:rPr lang="en-GB" dirty="0"/>
              <a:t>Like what you would do yourself …</a:t>
            </a:r>
          </a:p>
          <a:p>
            <a:pPr lvl="1"/>
            <a:r>
              <a:rPr lang="en-GB" dirty="0"/>
              <a:t>… expect more solid with more  features</a:t>
            </a:r>
          </a:p>
          <a:p>
            <a:r>
              <a:rPr lang="en-GB" dirty="0"/>
              <a:t>Creating a store:</a:t>
            </a:r>
          </a:p>
          <a:p>
            <a:pPr lvl="1"/>
            <a:r>
              <a:rPr lang="en-GB" dirty="0"/>
              <a:t>Create a reducer: (State, Action) =&gt; State</a:t>
            </a:r>
          </a:p>
          <a:p>
            <a:pPr lvl="1"/>
            <a:r>
              <a:rPr lang="en-GB" dirty="0"/>
              <a:t>Make sure the 1</a:t>
            </a:r>
            <a:r>
              <a:rPr lang="en-GB" baseline="30000" dirty="0"/>
              <a:t>st</a:t>
            </a:r>
            <a:r>
              <a:rPr lang="en-GB" dirty="0"/>
              <a:t> argument has a default parameter (the initial state) to get started.</a:t>
            </a:r>
          </a:p>
          <a:p>
            <a:pPr lvl="1"/>
            <a:r>
              <a:rPr lang="en-GB" dirty="0"/>
              <a:t>Create the store with </a:t>
            </a:r>
            <a:r>
              <a:rPr lang="en-GB" dirty="0" err="1"/>
              <a:t>configureStore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In theory, you don’t need anything else.</a:t>
            </a:r>
          </a:p>
          <a:p>
            <a:pPr lvl="1"/>
            <a:r>
              <a:rPr lang="en-GB" dirty="0"/>
              <a:t>In practice, you want more.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AC901-D79D-9BD4-6D43-0FF540CB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2EF6-0940-4729-9FE7-B2A3CD33C16A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1C0B-5B13-60F9-C31C-F6028A10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3D380-5830-05FC-CBD2-A50E46F0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1937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6DC3-F0FC-615C-FA20-948879F4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Reducer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9503D-0311-D462-8EAA-0BC155E8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EFB5C-EFAF-F95F-5E52-DA7E4C4AB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E18F8-5135-F44F-E4F6-3AB48BC2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9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0C553F-CD02-16F6-7167-E1850BE057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>
              <a:lnSpc>
                <a:spcPct val="70000"/>
              </a:lnSpc>
            </a:pPr>
            <a:r>
              <a:rPr lang="da-DK" sz="2400" b="0" baseline="-2500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baseline="-25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sum: </a:t>
            </a:r>
            <a:r>
              <a:rPr lang="da-DK" sz="2400" b="0" baseline="-250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da-DK" sz="2400" b="0" baseline="-25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70000"/>
              </a:lnSpc>
            </a:pPr>
            <a:b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a-DK" sz="2400" b="0" baseline="-2500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baseline="-25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({sum} = </a:t>
            </a:r>
            <a:r>
              <a:rPr lang="da-DK" sz="2400" b="0" baseline="-25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action) {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400" b="0" baseline="-25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action.type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baseline="-250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400" b="0" baseline="-2500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sz="2400" b="0" baseline="-250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sz="2400" b="0" baseline="-2500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addend = </a:t>
            </a:r>
            <a:r>
              <a:rPr lang="da-DK" sz="2400" b="0" baseline="-25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action.payload</a:t>
            </a:r>
            <a:endParaRPr lang="da-DK" sz="2400" b="0" baseline="-25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sum: sum + addend}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baseline="-2500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'reset'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baseline="-25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initState</a:t>
            </a:r>
            <a:endParaRPr lang="da-DK" sz="2400" b="0" baseline="-250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sz="2400" b="0" baseline="-250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{sum}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70000"/>
              </a:lnSpc>
            </a:pPr>
            <a:r>
              <a:rPr lang="da-DK" sz="2400" b="0" baseline="-25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DK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175783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D268-BEAC-5B78-9CBF-B98ACFD6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Store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F4E6A-C023-6B07-F43A-AAAF40DF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16C65-1CA9-5C15-D346-56BC4D76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765-36C6-2CCE-8A25-ECDF29A8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10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43F48A-EF7D-8E4D-18D6-702FD89C55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GB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store = </a:t>
            </a:r>
            <a:r>
              <a:rPr lang="en-GB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configureStore</a:t>
            </a:r>
            <a:r>
              <a:rPr lang="en-GB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({reducer: reduce})</a:t>
            </a:r>
          </a:p>
          <a:p>
            <a:pPr>
              <a:lnSpc>
                <a:spcPct val="100000"/>
              </a:lnSpc>
            </a:pPr>
            <a:br>
              <a:rPr lang="en-GB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2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36B7-0319-DD23-ED6B-A190B5FB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Hooks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580FD-525D-6679-8249-5946F2895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to React to allow functional style same features as OO style</a:t>
            </a:r>
          </a:p>
          <a:p>
            <a:pPr lvl="1"/>
            <a:r>
              <a:rPr lang="en-US" dirty="0" err="1"/>
              <a:t>useState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useEffect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useContext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useReducer</a:t>
            </a:r>
            <a:r>
              <a:rPr lang="en-US" dirty="0"/>
              <a:t>()</a:t>
            </a:r>
          </a:p>
          <a:p>
            <a:r>
              <a:rPr lang="en-US" dirty="0"/>
              <a:t>Allows side effects in functions</a:t>
            </a:r>
          </a:p>
          <a:p>
            <a:r>
              <a:rPr lang="en-US" dirty="0"/>
              <a:t>Redux adds its own hooks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9DDCC-3773-12BE-ED0F-0E955A48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62C66-E3A6-483C-AF19-50E858D82477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20FAB-2FEE-C027-1F3F-84CC4DF7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C2040-B418-1572-D072-29238EDB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991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0A567-783E-43D0-91C4-ECB99F4B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Provider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C4B4B-AEEC-4E7D-B1F1-CC5D901A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Redux equivalent of &lt;</a:t>
            </a:r>
            <a:r>
              <a:rPr lang="en-GB" dirty="0" err="1"/>
              <a:t>Context.Provider</a:t>
            </a:r>
            <a:r>
              <a:rPr lang="en-GB" dirty="0"/>
              <a:t>&gt;</a:t>
            </a:r>
          </a:p>
          <a:p>
            <a:r>
              <a:rPr lang="en-GB" dirty="0"/>
              <a:t>Provides store</a:t>
            </a:r>
          </a:p>
          <a:p>
            <a:pPr lvl="1"/>
            <a:r>
              <a:rPr lang="en-GB" dirty="0"/>
              <a:t>Accessible through </a:t>
            </a:r>
            <a:r>
              <a:rPr lang="en-GB" dirty="0" err="1"/>
              <a:t>useSelector</a:t>
            </a:r>
            <a:r>
              <a:rPr lang="en-GB" dirty="0"/>
              <a:t>() and </a:t>
            </a:r>
            <a:r>
              <a:rPr lang="en-GB" dirty="0" err="1"/>
              <a:t>useDispatch</a:t>
            </a:r>
            <a:r>
              <a:rPr lang="en-GB" dirty="0"/>
              <a:t>()</a:t>
            </a: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6F93A-3D28-4E34-B1B0-82CB198B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1A0E-ED70-40F2-9177-289BB8AA5105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8092-BB7E-45D9-AC74-BB84F12D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03248-5215-D06F-F14D-1CB84AD4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67335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4D73-9EE1-2BD6-E6CF-F6D610BA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Using a Provider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0F515-1A3A-CD40-A361-360599A9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C05A7-766B-CA1E-E81C-52706ECA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F6B33-E095-0C9F-363C-502F4055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13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EA98CB-E52B-874A-6B09-069BABF61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&lt;Provider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store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a-DK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da-DK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Adder</a:t>
            </a:r>
            <a:r>
              <a:rPr lang="da-DK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&lt;Adder/&gt;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&lt;/Provider&gt;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067950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7C19-1AF6-0A4F-892B-CE0A7D9A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useSelector</a:t>
            </a:r>
            <a:r>
              <a:rPr lang="en-GB" dirty="0"/>
              <a:t>()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28102-F166-68D7-2CD4-CA9F02D8C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Essentially a </a:t>
            </a:r>
            <a:r>
              <a:rPr lang="en-DK" dirty="0" err="1"/>
              <a:t>store.getState</a:t>
            </a:r>
            <a:r>
              <a:rPr lang="en-DK" dirty="0"/>
              <a:t>()</a:t>
            </a:r>
            <a:r>
              <a:rPr lang="en-US" dirty="0"/>
              <a:t> singleton</a:t>
            </a:r>
          </a:p>
          <a:p>
            <a:r>
              <a:rPr lang="en-US" dirty="0"/>
              <a:t>Allows to select the relevant part of the state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10005-FAE8-7AF5-BB96-04C1008A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7F7C-B9D1-41DF-8A02-28628326A966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981B5-5091-30B0-574B-E58DCC92C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49D1F-9D5E-A9F7-D256-F085F183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30345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F58D-701F-B14E-63B8-A13B2D47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useDispatch</a:t>
            </a:r>
            <a:r>
              <a:rPr lang="en-GB" dirty="0"/>
              <a:t>()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CC543-7FEB-3BF4-CC07-CAFB71151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store.dispatch</a:t>
            </a:r>
            <a:r>
              <a:rPr lang="en-US" dirty="0"/>
              <a:t> singleton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75FE3-A17F-7F7B-4AE4-4C6B223B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2C3F-5483-443B-A0E0-122D5C354CDD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A8567-481D-F531-5152-8F09F35C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782AF-614C-683B-DC46-A0F118BA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59893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FB61-AADC-5423-1C9C-FE82C51B2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Dispatch and Selector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D99D5-644D-4590-DAF1-54E3BF4A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FB61A-5F91-1DE1-5267-4E67B676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6293A-A52F-943A-C144-2E496324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16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B9B483-1063-AB56-E880-FCA32AB3F1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[addend,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setAddend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useSelector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 </a:t>
            </a:r>
            <a:r>
              <a:rPr lang="da-D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s.sum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useDispatch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</a:pPr>
            <a:b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updateAddend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e </a:t>
            </a:r>
            <a:r>
              <a:rPr lang="da-D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setAddend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parseInt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dispatchAdd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da-D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({type: 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addend})</a:t>
            </a:r>
          </a:p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dispatchReset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da-D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({type: 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'reset'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100000"/>
              </a:lnSpc>
            </a:pPr>
            <a:endParaRPr lang="da-D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940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3EF2-B18D-1220-1498-20E2A890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The JSX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6ADA5-BECD-ACA8-3AE9-93AC5A80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0D44B-5A66-E3DF-7F63-A629A769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D68B30-E658-402C-6451-4DE0C2A0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17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099A60-B088-D8D2-A4FE-60F00B2BA5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da-DK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da-DK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endParaRPr lang="en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a-DK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addend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a-DK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updateAddend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DK" sz="24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DK" sz="2400" dirty="0">
                <a:solidFill>
                  <a:srgbClr val="800000"/>
                </a:solidFill>
              </a:rPr>
              <a:t> 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Sum: 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a-DK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a-DK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dispatchAdd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a-DK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a-DK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a-DK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a-DK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dispatchReset</a:t>
            </a:r>
            <a:r>
              <a:rPr lang="da-DK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da-DK" sz="2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da-DK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da-DK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endParaRPr lang="en-DK" sz="2400" dirty="0"/>
          </a:p>
        </p:txBody>
      </p:sp>
    </p:spTree>
    <p:extLst>
      <p:ext uri="{BB962C8B-B14F-4D97-AF65-F5344CB8AC3E}">
        <p14:creationId xmlns:p14="http://schemas.microsoft.com/office/powerpoint/2010/main" val="701333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8F9B1-1654-7EED-A0F5-DFE4D708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Slices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8D6EE-5780-6FD6-7BA3-4C9A0F5D7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 states are complex</a:t>
            </a:r>
          </a:p>
          <a:p>
            <a:r>
              <a:rPr lang="en-US" dirty="0"/>
              <a:t>Real reducers are big an unwieldy</a:t>
            </a:r>
          </a:p>
          <a:p>
            <a:r>
              <a:rPr lang="en-US" dirty="0"/>
              <a:t>We can split them into </a:t>
            </a:r>
            <a:r>
              <a:rPr lang="en-US" i="1" dirty="0"/>
              <a:t>slices</a:t>
            </a:r>
            <a:endParaRPr lang="en-US" dirty="0"/>
          </a:p>
          <a:p>
            <a:r>
              <a:rPr lang="en-US" dirty="0"/>
              <a:t>A slice is a part of the state with its own reducer</a:t>
            </a:r>
          </a:p>
          <a:p>
            <a:r>
              <a:rPr lang="en-US" dirty="0"/>
              <a:t>The state becomes a combination of the slices: { user: …, product: …, shopping: …, payment: …}</a:t>
            </a:r>
          </a:p>
          <a:p>
            <a:r>
              <a:rPr lang="en-US" dirty="0"/>
              <a:t>The combined reducer can be built with </a:t>
            </a:r>
            <a:r>
              <a:rPr lang="en-US" dirty="0" err="1"/>
              <a:t>combineReducer</a:t>
            </a:r>
            <a:r>
              <a:rPr lang="en-US" dirty="0"/>
              <a:t>() or </a:t>
            </a:r>
            <a:r>
              <a:rPr lang="en-US" dirty="0" err="1"/>
              <a:t>configureStore</a:t>
            </a:r>
            <a:r>
              <a:rPr lang="en-US" dirty="0"/>
              <a:t>()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DBEC0-DA05-839A-0A8C-7A35C826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D268D-D410-4129-83DC-65104F6DEE61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9419F-1594-ADF5-7E99-F98D2A6A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6BE64-A9D1-1A4B-19E2-25529EC9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4506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F6A2-AC5D-677C-F392-772D9FC4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createSlice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B3E15-96A2-BA22-7EE6-062950A20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method for each action instead of a big switch</a:t>
            </a:r>
          </a:p>
          <a:p>
            <a:r>
              <a:rPr lang="en-US" dirty="0"/>
              <a:t>Create slice creates </a:t>
            </a:r>
          </a:p>
          <a:p>
            <a:pPr lvl="1"/>
            <a:r>
              <a:rPr lang="en-US" dirty="0"/>
              <a:t>the reduce function</a:t>
            </a:r>
          </a:p>
          <a:p>
            <a:pPr lvl="1"/>
            <a:r>
              <a:rPr lang="en-US" dirty="0"/>
              <a:t>An initial state</a:t>
            </a:r>
          </a:p>
          <a:p>
            <a:pPr lvl="1"/>
            <a:r>
              <a:rPr lang="en-US" dirty="0"/>
              <a:t>Action creators for each action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7D5A2-3130-1DAC-16C1-9DE7F3C1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F512-FFA0-4DBF-9448-4036CB00B685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19F2D-6180-F559-3DB4-7EEAF1DF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E6F2A-76BD-E229-35AD-467BE448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56758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993F0-D23B-92AB-F429-AC5116DB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Creating a reducer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6B2B0-8ED6-60D1-1A44-488156E0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849BC-5ACC-10C4-8BBC-D2ACC2DC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ECD1D-5E58-C082-56FF-31A6B9BB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20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99C534-7B40-BFE5-328C-CBF0A4D717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da-DK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lobbyReducers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(_: Game[], action: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PayloadAction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&lt;Game[]&gt;): Game[] {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action.payload</a:t>
            </a: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newGame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Game[], action: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PayloadAction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&lt;Game&gt;): Game[] {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[...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action.payload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joinGame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Game[], action: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PayloadAction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&lt;Game&gt;): Game[] {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state.filter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(g </a:t>
            </a:r>
            <a:r>
              <a:rPr lang="da-DK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g.gameNumber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da-DK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action.payload.gameNumber</a:t>
            </a: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00000"/>
              </a:lnSpc>
            </a:pPr>
            <a:r>
              <a:rPr lang="da-DK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</a:pPr>
            <a:endParaRPr lang="da-DK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2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6AB6-A805-5159-D2D8-F6AB6CFE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 Slice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7A29F-F24D-7FCF-A2D2-55AECBC3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C2FE-E3E8-DF2B-0339-8534555A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6F8D0-1F94-3144-3FFA-10B5DDAF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21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09A56C-173D-2E2E-1E1A-6703CA772C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lobbySlice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createSlice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name: 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'lobby'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initialState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[]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Game[],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reducers: 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lobbyReducers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100000"/>
              </a:lnSpc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30508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9EA0-25BD-4EF7-7401-E24F314A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 store </a:t>
            </a:r>
            <a:r>
              <a:rPr lang="da-DK"/>
              <a:t>from slices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2567C-DCA0-4264-3D9D-9BE1CE28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71FE3-97AB-26A8-18E6-8496A13D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7FA0C-FF3C-72E6-35D6-5B691BE5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22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5550AD-81F2-6D04-7410-71D152F8B5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store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configureStore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&lt;State&gt;({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reducer: {game: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gameSlice.reducer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lobby: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lobbySlice.reducer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ct val="100000"/>
              </a:lnSpc>
            </a:pP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2715002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0406-9186-476C-DC9F-4493E065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Side effects</a:t>
            </a:r>
            <a:endParaRPr lang="da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708AEC-9E89-70D2-F322-CF8B41DE5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GUIs have some sort of side effects</a:t>
            </a:r>
          </a:p>
          <a:p>
            <a:pPr lvl="1"/>
            <a:r>
              <a:rPr lang="en-GB" dirty="0"/>
              <a:t>Calling servers</a:t>
            </a:r>
          </a:p>
          <a:p>
            <a:pPr lvl="1"/>
            <a:r>
              <a:rPr lang="en-GB" dirty="0"/>
              <a:t>Reacting to incoming events</a:t>
            </a:r>
          </a:p>
          <a:p>
            <a:pPr lvl="1"/>
            <a:r>
              <a:rPr lang="en-GB" dirty="0"/>
              <a:t>Timers</a:t>
            </a:r>
          </a:p>
          <a:p>
            <a:r>
              <a:rPr lang="en-GB" dirty="0"/>
              <a:t>It's a common problem in 1-way flow where to handle side effects</a:t>
            </a:r>
          </a:p>
          <a:p>
            <a:pPr lvl="1"/>
            <a:r>
              <a:rPr lang="en-GB" dirty="0"/>
              <a:t>View?</a:t>
            </a:r>
          </a:p>
          <a:p>
            <a:pPr lvl="1"/>
            <a:r>
              <a:rPr lang="en-GB" dirty="0"/>
              <a:t>Action creation?</a:t>
            </a:r>
          </a:p>
          <a:p>
            <a:pPr lvl="1"/>
            <a:r>
              <a:rPr lang="en-GB" dirty="0"/>
              <a:t>Reducer?</a:t>
            </a:r>
          </a:p>
          <a:p>
            <a:r>
              <a:rPr lang="en-GB" dirty="0"/>
              <a:t>Redux answer is to use a </a:t>
            </a:r>
            <a:r>
              <a:rPr lang="en-GB" i="1" dirty="0" err="1"/>
              <a:t>Thunk</a:t>
            </a:r>
            <a:endParaRPr lang="en-GB" dirty="0"/>
          </a:p>
          <a:p>
            <a:pPr lvl="1"/>
            <a:endParaRPr lang="en-GB" dirty="0"/>
          </a:p>
          <a:p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66FDC-7364-6970-9A85-D0D01105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11/02/2025 20:09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67BA8-0964-2DFD-6DD4-AC02149A9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258A3-A03A-EBDE-AA09-C833C52A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2820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2D52-3921-E799-840E-2D254D2F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Thunk</a:t>
            </a:r>
            <a:endParaRPr lang="en-D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0F6E7-2B4F-B76C-3E1B-F225F5B9A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thunk</a:t>
            </a:r>
            <a:r>
              <a:rPr lang="en-US" dirty="0"/>
              <a:t> is used as a pseudo-action with side effects</a:t>
            </a:r>
          </a:p>
          <a:p>
            <a:r>
              <a:rPr lang="en-US" dirty="0"/>
              <a:t>A </a:t>
            </a:r>
            <a:r>
              <a:rPr lang="en-US" dirty="0" err="1"/>
              <a:t>thunk</a:t>
            </a:r>
            <a:r>
              <a:rPr lang="en-US" dirty="0"/>
              <a:t> is a function:</a:t>
            </a:r>
          </a:p>
          <a:p>
            <a:r>
              <a:rPr lang="en-US" dirty="0"/>
              <a:t>async function </a:t>
            </a:r>
            <a:r>
              <a:rPr lang="en-US" dirty="0" err="1"/>
              <a:t>thunk</a:t>
            </a:r>
            <a:r>
              <a:rPr lang="en-US" dirty="0"/>
              <a:t>(dispatch, </a:t>
            </a:r>
            <a:r>
              <a:rPr lang="en-US" dirty="0" err="1"/>
              <a:t>getState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…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thunk</a:t>
            </a:r>
            <a:r>
              <a:rPr lang="en-US" dirty="0"/>
              <a:t> calls the server, then dispatches an action based on the result</a:t>
            </a:r>
          </a:p>
          <a:p>
            <a:r>
              <a:rPr lang="en-US" dirty="0"/>
              <a:t>You can dispatch a </a:t>
            </a:r>
            <a:r>
              <a:rPr lang="en-US" dirty="0" err="1"/>
              <a:t>thunk</a:t>
            </a:r>
            <a:r>
              <a:rPr lang="en-US" dirty="0"/>
              <a:t>, if you are using </a:t>
            </a:r>
            <a:r>
              <a:rPr lang="en-US" dirty="0" err="1"/>
              <a:t>ThunkMiddleware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809F5-6F86-5259-50A9-80FFA210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D392-BA7A-4658-AF6E-9EB88DA44A9C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287A6-A759-1053-31C4-CC7C67A0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EB96-31C9-6859-B8E4-FDD75B48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64684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D463-956A-A9B6-BB20-37C7D765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Thunk</a:t>
            </a:r>
            <a:r>
              <a:rPr lang="en-GB" dirty="0"/>
              <a:t> dispatch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B16E4-6240-156D-CF8E-27E765F7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7D8D5-6B80-476B-8272-49450654E39C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BA8C3-B6B8-489E-DF44-7A26EAB4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33B3-F638-8DC7-AD8C-B1B5A582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11130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245E-9D34-23D7-F26F-ADA5761A6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 </a:t>
            </a:r>
            <a:r>
              <a:rPr lang="da-DK" dirty="0" err="1"/>
              <a:t>thunk</a:t>
            </a:r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01352-6A8E-A1F6-FA97-1311132B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3DA32-F06B-4BB3-B782-3DA14C8A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2CB8B-B351-C316-CEE0-773B1C77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26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FFDE92-577C-5AB4-031A-0F473302DB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concedeThunk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Dispatch,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{mode, player, game: {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gameNumber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state.game</a:t>
            </a:r>
            <a:endParaRPr lang="da-D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(mode === 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playing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game =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api.concede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gameNumber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otherPlayer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(player))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gameSlice.actions.setGame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({player, game}))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771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5698-6176-A5DB-3C85-E9E02C72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Dispatching</a:t>
            </a:r>
            <a:r>
              <a:rPr lang="da-DK" dirty="0"/>
              <a:t> a </a:t>
            </a:r>
            <a:r>
              <a:rPr lang="da-DK" dirty="0" err="1"/>
              <a:t>thunk</a:t>
            </a:r>
            <a:r>
              <a:rPr lang="en-DK" dirty="0"/>
              <a:t> (</a:t>
            </a:r>
            <a:r>
              <a:rPr lang="en-DK" dirty="0" err="1"/>
              <a:t>jsx</a:t>
            </a:r>
            <a:r>
              <a:rPr lang="en-DK" dirty="0"/>
              <a:t>/</a:t>
            </a:r>
            <a:r>
              <a:rPr lang="en-DK" dirty="0" err="1"/>
              <a:t>tsx</a:t>
            </a:r>
            <a:r>
              <a:rPr lang="en-DK" dirty="0"/>
              <a:t>)</a:t>
            </a:r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A63AD-0CBC-2E7D-B1A4-7263122B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88F57-DD84-E532-F4C1-F407EC42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C2D27-89E7-0726-7729-11305549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27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BDDD3B-ECE4-017B-196D-39A4733EE5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en-GB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GB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GB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GB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GB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dispatch(</a:t>
            </a:r>
            <a:r>
              <a:rPr lang="en-GB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concedeThunk</a:t>
            </a:r>
            <a:r>
              <a:rPr lang="en-GB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Concede game</a:t>
            </a:r>
            <a:r>
              <a:rPr lang="en-GB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GB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35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4311-7764-B996-AA26-6AE6B872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659C9-4607-7878-3454-76B8A520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Parameterizing </a:t>
            </a:r>
            <a:r>
              <a:rPr lang="da-DK" dirty="0" err="1"/>
              <a:t>thunk</a:t>
            </a:r>
            <a:r>
              <a:rPr lang="en-DK" dirty="0"/>
              <a:t>s</a:t>
            </a:r>
            <a:endParaRPr lang="da-D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A78C4-E3D3-DFA6-9413-3D1B9A31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4659-C108-4AF8-9ACF-150BF149B82D}" type="datetime8">
              <a:rPr lang="en-DK" smtClean="0"/>
              <a:t>10/30/2025 14:52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ECD84-C7AE-48AD-7D9F-C3682E31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Ole I Hougaard, Software Engineering</a:t>
            </a:r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D9B50-6906-3E00-7525-AA4E93A7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28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FDDFD9-8DC7-0733-28E3-638EED1D43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makeMoveThunk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Thunk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da-DK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Dispatch,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getState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{mode, game: {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gameNumber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 player} =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state.game</a:t>
            </a:r>
            <a:endParaRPr lang="da-DK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(mode === 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playing</a:t>
            </a:r>
            <a:r>
              <a:rPr lang="da-DK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da-DK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api.createMove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gameNumber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{x, y, player})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gameSlice.actions.makeMove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00000"/>
              </a:lnSpc>
            </a:pPr>
            <a:r>
              <a:rPr lang="da-DK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33411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080F-D4C2-03FC-3959-7B32563C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Enhancers, Middleware, and </a:t>
            </a:r>
            <a:r>
              <a:rPr lang="en-GB" dirty="0" err="1"/>
              <a:t>Thunks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CB86E-9D4E-ACE4-425C-3438FF531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Enhancer: is a function that wraps around </a:t>
            </a:r>
            <a:r>
              <a:rPr lang="en-US" dirty="0" err="1"/>
              <a:t>createStore</a:t>
            </a:r>
            <a:r>
              <a:rPr lang="en-US" dirty="0"/>
              <a:t> to do more.</a:t>
            </a:r>
          </a:p>
          <a:p>
            <a:r>
              <a:rPr lang="en-US" dirty="0"/>
              <a:t>Middleware: An enhancer that only enhances dispatch.</a:t>
            </a:r>
          </a:p>
          <a:p>
            <a:r>
              <a:rPr lang="en-US" dirty="0" err="1"/>
              <a:t>ThunkMiddleware</a:t>
            </a:r>
            <a:r>
              <a:rPr lang="en-US" dirty="0"/>
              <a:t>: An enhancer that can handle </a:t>
            </a:r>
            <a:r>
              <a:rPr lang="en-US" dirty="0" err="1"/>
              <a:t>thunks</a:t>
            </a:r>
            <a:r>
              <a:rPr lang="en-US" dirty="0"/>
              <a:t> and actions</a:t>
            </a:r>
          </a:p>
          <a:p>
            <a:r>
              <a:rPr lang="en-US" dirty="0" err="1"/>
              <a:t>configureStore</a:t>
            </a:r>
            <a:r>
              <a:rPr lang="en-US" dirty="0"/>
              <a:t>() automatically adds </a:t>
            </a:r>
            <a:r>
              <a:rPr lang="en-US" dirty="0" err="1"/>
              <a:t>ThunkMiddleware</a:t>
            </a:r>
            <a:r>
              <a:rPr lang="en-US" dirty="0"/>
              <a:t> to the store.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970D-B8AF-ADBC-8170-12C1589C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F2AB1-47F2-4706-8619-D0CFD99AD2C6}" type="datetime8">
              <a:rPr lang="en-DK" smtClean="0"/>
              <a:t>10/30/2025 14:52</a:t>
            </a:fld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785B-E9EC-00F1-062B-9512A5CE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Ole I Hougaard, Software Engineering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765E3-D2C8-9A75-457A-74D46147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D356-B6C6-4BB6-8D42-BECF83CAE2C9}" type="slidenum">
              <a:rPr lang="en-DK" smtClean="0"/>
              <a:t>29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897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983B17C9-6E37-4D8D-B807-A2A035056A8C}" vid="{56CD12B6-0C3C-46B0-99D3-EA561B8932B4}"/>
    </a:ext>
  </a:extLst>
</a:theme>
</file>

<file path=ppt/theme/theme2.xml><?xml version="1.0" encoding="utf-8"?>
<a:theme xmlns:a="http://schemas.openxmlformats.org/drawingml/2006/main" name="Blank">
  <a:themeElements>
    <a:clrScheme name="VIA University College">
      <a:dk1>
        <a:srgbClr val="414141"/>
      </a:dk1>
      <a:lt1>
        <a:sysClr val="window" lastClr="FFFFFF"/>
      </a:lt1>
      <a:dk2>
        <a:srgbClr val="8CC35A"/>
      </a:dk2>
      <a:lt2>
        <a:srgbClr val="AFAFAF"/>
      </a:lt2>
      <a:accent1>
        <a:srgbClr val="FFBE50"/>
      </a:accent1>
      <a:accent2>
        <a:srgbClr val="FF9164"/>
      </a:accent2>
      <a:accent3>
        <a:srgbClr val="FF7369"/>
      </a:accent3>
      <a:accent4>
        <a:srgbClr val="A0A0DC"/>
      </a:accent4>
      <a:accent5>
        <a:srgbClr val="78B4DC"/>
      </a:accent5>
      <a:accent6>
        <a:srgbClr val="32C8AA"/>
      </a:accent6>
      <a:hlink>
        <a:srgbClr val="0000FF"/>
      </a:hlink>
      <a:folHlink>
        <a:srgbClr val="800080"/>
      </a:folHlink>
    </a:clrScheme>
    <a:fontScheme name="VIA University College">
      <a:majorFont>
        <a:latin typeface="VIA Type Office"/>
        <a:ea typeface=""/>
        <a:cs typeface=""/>
      </a:majorFont>
      <a:minorFont>
        <a:latin typeface="VIA Type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83000"/>
          </a:lnSpc>
          <a:spcBef>
            <a:spcPct val="20000"/>
          </a:spcBef>
          <a:buFont typeface="VIA Type Office" panose="02000503000000020004" pitchFamily="2" charset="0"/>
          <a:buNone/>
          <a:defRPr sz="1600" kern="1200" spc="-100" baseline="0" dirty="0" smtClean="0">
            <a:solidFill>
              <a:schemeClr val="tx1"/>
            </a:solidFill>
            <a:latin typeface="Via Light Office" panose="02000503000000020004" pitchFamily="2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IH.potx" id="{61D3BFFF-DACC-4BCC-9436-B0C234BA39B0}" vid="{FDCFB7EE-08AD-4667-8AF5-7581EBED6AC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5125</TotalTime>
  <Words>1584</Words>
  <Application>Microsoft Office PowerPoint</Application>
  <PresentationFormat>Widescreen</PresentationFormat>
  <Paragraphs>276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VIA Type Office</vt:lpstr>
      <vt:lpstr>VIA Type Office Light</vt:lpstr>
      <vt:lpstr>Office Theme</vt:lpstr>
      <vt:lpstr>Blank</vt:lpstr>
      <vt:lpstr>WEB3, Session 9</vt:lpstr>
      <vt:lpstr>State Management</vt:lpstr>
      <vt:lpstr>Local vs global state</vt:lpstr>
      <vt:lpstr>The original Flux pattern</vt:lpstr>
      <vt:lpstr>The ReduceStore</vt:lpstr>
      <vt:lpstr>What is a reducer?</vt:lpstr>
      <vt:lpstr>The problem of Flux and state management</vt:lpstr>
      <vt:lpstr>Redux</vt:lpstr>
      <vt:lpstr>Reducer</vt:lpstr>
      <vt:lpstr>Store</vt:lpstr>
      <vt:lpstr>Hooks</vt:lpstr>
      <vt:lpstr>Provider</vt:lpstr>
      <vt:lpstr>Using a Provider</vt:lpstr>
      <vt:lpstr>useSelector()</vt:lpstr>
      <vt:lpstr>useDispatch()</vt:lpstr>
      <vt:lpstr>Dispatch and Selector</vt:lpstr>
      <vt:lpstr>The JSX</vt:lpstr>
      <vt:lpstr>Slices</vt:lpstr>
      <vt:lpstr>createSlice</vt:lpstr>
      <vt:lpstr>Creating a reducer</vt:lpstr>
      <vt:lpstr>Creating a Slice</vt:lpstr>
      <vt:lpstr>Creating a store from slices</vt:lpstr>
      <vt:lpstr>Side effects</vt:lpstr>
      <vt:lpstr>Thunk</vt:lpstr>
      <vt:lpstr>Thunk dispatch</vt:lpstr>
      <vt:lpstr>A thunk</vt:lpstr>
      <vt:lpstr>Dispatching a thunk (jsx/tsx)</vt:lpstr>
      <vt:lpstr>Parameterizing thunks</vt:lpstr>
      <vt:lpstr>Enhancers, Middleware, and Thunks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69</cp:revision>
  <dcterms:created xsi:type="dcterms:W3CDTF">2024-10-30T07:36:01Z</dcterms:created>
  <dcterms:modified xsi:type="dcterms:W3CDTF">2025-11-02T19:31:34Z</dcterms:modified>
</cp:coreProperties>
</file>